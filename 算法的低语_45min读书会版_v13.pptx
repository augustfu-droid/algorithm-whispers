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HBM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540"/>
              </a:solidFill>
              <a:effectLst/>
            </c:spPr>
          </c:dPt>
          <c:dPt>
            <c:idx val="1"/>
            <c:bubble3D val="0"/>
            <c:spPr>
              <a:solidFill>
                <a:srgbClr val="1B4F8C"/>
              </a:solidFill>
              <a:effectLst/>
            </c:spPr>
          </c:dPt>
          <c:dPt>
            <c:idx val="2"/>
            <c:bubble3D val="0"/>
            <c:spPr>
              <a:solidFill>
                <a:srgbClr val="9DB8D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SK Hynix</c:v>
                </c:pt>
                <c:pt idx="1">
                  <c:v>Samsung</c:v>
                </c:pt>
                <c:pt idx="2">
                  <c:v>Micron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53</c:v>
                </c:pt>
                <c:pt idx="1">
                  <c:v>35</c:v>
                </c:pt>
                <c:pt idx="2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耗电</c:v>
                </c:pt>
              </c:strCache>
            </c:strRef>
          </c:tx>
          <c:spPr>
            <a:solidFill>
              <a:srgbClr val="1B4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2024</c:v>
                  </c:pt>
                  <c:pt idx="2">
                    <c:v>2026E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220</c:v>
                </c:pt>
                <c:pt idx="2">
                  <c:v>560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各位同事好，我是付强。今天这场分享叫《算法的低语》。
先定个调子：这不是一次 AI 工具培训，也不是一次投资路演，更不是推荐任何标的。它更像一次读书会——我用一个 IT 人的视角，把过去三年读论文、看代码、看产业链、整理笔记的过程，压缩成一个问题——
为什么一堆矩阵乘法，最后会表现得像是在理解语言？
先说一句祛魅的话：大模型本质上是应用数学，基本原理其实并不复杂，真正难的是工程、创新和软硬件结合。所以今天上半场我会花一半时间讲底层数学——证明 AI 不神秘；下半场讲产业里的算力、电力、生态——证明 AI 不便宜。难的不在数学，在工程。
今天我希望大家带走的不是公式，而是三句大白话：第一，语言可以变成坐标；第二，智能可以靠规模长出来；第三，产业归根到底被算力、电力和生态卡着。
同时反复强调：不讲个股，不预测点位，只讲底层结构。所有产业相关内容，都是个人学习公开资料后的整理，不代表公司或部门观点，也不构成任何投资建议——这句话今天会在每个产业页重复。
最后加一句错不了的标签锚定话：“今天如果大家听完之后只记住一个印象，我希望不是‘AI 很热’，也不是‘技术很复杂’，而是——AI 这件事有底层结构，而且这些结构跟我们每个岗位都会发生关系。”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读书会版默认跳过本页，直接进 Slide 3 路线图。如果走充分版或现场气氛需要点补充，可以上这一段：
"顺便解释一下为什么这本书叫《算法的低语》而不是《AI 狂飙》。AI 这个词太大、太晃眼——从上世纪 50 年代的符号推理、到 80 年代的专家系统、到 2010 年代的深度学习，已经换过好几波范式，每一次都被市场包装成「狂飙」，每一次最后都被现实修正一遍。「狂飙」是市场的语言，「低语」是技术的语言。真正重要的东西从来不在发布会的宏大叙事里，而在「词怎么变成坐标」、「关联怎么算出来」、「规模和性能怎么挂钩」、「算力卡在哪儿」、「生态护城河多深」这些底层结构里——这些东西不喧嚣，但它们决定了谁能持续赢。今天这 45 分钟，我希望大家听到的是这些「低语」。"
跳过也没问题。路线图页能代言。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先看今天的路线图。整本书 7 章，分上下两半场。上半场五章是数学线索——高维几何、Word2Vec、Attention、Scaling Law、Grokking——讲清楚为什么语言能被机器看懂。下半场两章接地气：算力产业、下一代架构。
但记住一件事：今天不是讲透七章。今天是让不同背景的同事听完，都能拿走三句大白话：语言可以变成坐标；智能可以靠规模长出来；产业归根到底被算力、电力、生态卡着。
读书会版默认走 45 分钟 + 10-15 分钟 Q&amp;A。下面三档你可以看：35 分钟精华、 ·45 分钟读书会· 、 65 分钟充分。今天走中间这档。中间想插话问问题，随时挥手。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可能有同事——特别是不搞技术的业务同事——心里在嘀咕：你今天不是讲 ChatGPT 吗？怎么上来先讲几何？我数学早还给老师了。别急，我解释一下为啥第一章是这个。
因为整本书要回答一个问题：ChatGPT 这玩意儿凭什么能听懂人话？答案的源头不在算法、不在算力、不在数据，而在一件最反直觉的事——它把每个词、每句话，都翻译成了几千维空间里的一个'方向'。你以为它在'理解语言'，其实它在'做几何'。
打个金融的比方：你看一只股票，不会只看股价，你会看市盈率、市净率、行业、市值、波动率——每个维度都是一个'方向'，组合起来就是这只股票的画像。Fama-French 三因子、五因子，本质就是把股票放进 3 维、5 维空间。大模型干的事一模一样，只是它用 4096 个维度给一个词画像。
所以第一章先讲高维几何，是给后面所有章节打地基。听懂了这一章，后面的 Word2Vec、Attention、Scaling Law 都是顺水推舟；听不懂这一章，后面全是黑话。我保证不推公式，全用比喻——业务同事请放心。这一章的核心就一句反直觉的话：维度越高，'距离'这个概念越没用——下一页解释。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我先讲个比喻。假设你在一个二维平面上随便撒一万个点——比如你在地上撒一把豆子——豆子之间最远的两颗，比最近的两颗远 30 多倍。这个比例叫'相对差异'。
但你把这个游戏搬到 768 维空间——这是 BERT 用的维度——这个比例突然变成了 1.15 倍。也就是说，所有豆子距离差不多。再上到 LLaMA 用的 4096 维，更夸张，几乎所有豆子都'等距'。
这就是著名的'距离的诅咒'。它带来一个直接后果：在高维空间里，传统的'最近邻'算法直接报废——因为最近邻和最远邻没区别。
那为啥还要去高维？这就引出一个段子——我跟某个量化基金的朋友聊，他说他们以前用的就是低维特征，结果死活做不出区分度，后来上了 BERT embedding 一下就好了。我问他为啥，他说：'高维空间太大了，再差的特征都能找到一片属于自己的角落'。这话糙理不糙——下一页讲为啥。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那为啥还要去高维？因为高维有'祝福'的一面。
你想一下，二维平面只能放 4 个互相垂直的方向：上下左右。三维多一点：6 个。但到了 4096 维呢？你可以塞下几乎指数级多个'几乎正交'的方向——足够给'皇室身份'一个方向、'性别'一个方向、'是否水果'一个方向、'语气是否阴阳怪气'一个方向。
LLM 干的事，就是把每个概念都分配一个独立的方向。意义不是一个'点'，是一个'方向'。
这跟咱们金融领域有点像——'风格因子'。Fama-French 三因子、五因子，每个因子也是一个方向，组合起来描述一只股票的特征。LLM 干的事一模一样，只是它有几千个'因子'而已。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讲完高维几何，可能有同事会问：你说意义是个方向，听起来挺玄学的，有证据吗？这一章就是答案。
上一章我们说，大模型把每个词塞进几千维空间，给一个方向。但那只是一个数学猜想——直到 2013 年，Google 的 Mikolov 发表 Word2Vec，干了一件让全 AI 圈震惊的事：他算出了 king − man + woman ≈ queen。词向量之间居然可以做加减法，而且结果有意义。
这事的意义有多大？这篇论文今天被引超过 10 万次，相当于 AI 圈的'相对论'级别。它第一次实证了——'意义'不是抽象概念，是几何对象。后面 BERT、GPT、ChatGPT，整套范式都建立在这个发现之上。
所以第二章是整个大模型时代的'创世记'。没有 Word2Vec 证明方向有意义，后面所有故事都讲不下去。下一页我们看那个著名的公式——以及 Mikolov 投稿时审稿人怀疑他数据造假的段子。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Word2Vec 最著名的例子。把'国王'的词向量，减去'男人'的词向量，再加上'女人'的词向量——你猜得到什么？
女王。
不是'差不多'，是几乎精确。再换一组：'巴黎'减'法国'加'意大利'等于'罗马'。'walking'减'walked'加'swam'等于'swimming'。
当年 Mikolov 写完这篇论文给 NeurIPS 投稿，审稿人怀疑他造假——这不是我编的，是他后来自己讲的。审稿人的原话大概是：'你这结果太漂亮了，看着像 cherry-pick'。后来他被迫公开了所有数据和代码。
这件事说明啥？说明在这个向量空间里，'皇室身份'是一个固定方向，'性别'是另一个固定方向，'首都'又是一个方向。你想表达谁是哪个国家的首都，向量减一下加一下就行。
这就是后来 GPT、Claude 所有大模型的几何基石。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这件事本身是个数学奇迹。你只让模型做一件简单的事——预测'谁会出现在我旁边'——它居然就把整个语义结构都学出来了。
数学上看，这是一个共现矩阵的低秩分解。直白点说，就是把'人类说话的统计规律'压缩成一个低维结构，结果发现这个低维结构居然就是语义。
为啥这件事对投资人重要？因为它意味着：你不需要给模型很强的监督信号，数据够多、目标够简单，结构会自己长出来。这是后来 Scaling Law 能成立的底层原因——也就是为啥 OpenAI、Anthropic 敢往里面砸几百亿美元。如果连这个'弱监督也能涌现结构'的前提都不成立，他们就是 setup 一个大型烧钱比赛。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第二章解决了'词有方向'，但马上有个新问题：'苹果'在'我吃了一个苹果'和'苹果发布会'里，方向应该一样吗？显然不该。这就是第三章要解决的事。
Word2Vec 给每个词一个**固定**方向，不管上下文。但人类语言不是这样——同一个词在不同句子里意思可能完全不同。怎么让一个词的方向**随邻居动态变化**？这就是 Attention 机制。
2017 年那篇《Attention Is All You Need》，标题就特别狂——只要注意力就够了，RNN、LSTM 这些前辈全可以扔。它的核心就一句话：每个词主动'查询'句子里所有其他词，决定自己当下该长什么样。这就是 Transformer 的心脏，也是后来 ChatGPT、Claude、Gemini 全部用的底层架构。
听不懂没关系，下一页我用一个'相亲大会'的比喻把 Query/Key/Value 讲明白——保证业务同事一听就懂。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这三件套，今天统一用一个比喻：一家猎头公司做匹配。
Q （Query）是客户需求：客户今天要找什么样的人。K （Key）是候选人的能力标签：他们各自贴出标签说我会什么。V （Value）是候选人的简历：真正能交付的信息。
Attention 做的事，就是拿客户需求 Q 一个个去比候选人的标签 K，算出一套权重；然后按这套权重对所有人的简历 V 加权汇总，得出“客户今天真正该用哪些信息”。
右边表格是具体例子：当“我”这个词用 Attention 去看它前面几个词，对“苹果”的权重是 0.53，对“红”是 0.27，对“了”只有 0.04。意思就是：这句话里“我”主要被谁决定？是苹果和红，不是“了”。
这个机制有意思的地方：在今天的 AI 系统里，信息检索、文本生成、给同事推荐资料、甚至给召回邮件打标签，本质上都是同一个路子：需求、标签、内容三者的加权匹配。所以很多信息匹配类的工作环节，未来都会被这套机制重塑。这里不是说哪个职业会被取代，是说任务结构会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为啥 Attention 把 RNN 干掉了？两个理由。
第一，RNN 信息是一个 token 接一个 token 串行传，传到第 5 个 token 的时候，第 1 个 token 的信号已经衰减成噪音了——这叫'梯度消失'。而 Attention 让任意两个 token 直接对话，距离永远是 1。
第二，RNN 必须串行——前一个算完才能算下一个；而 Attention 可以完全并行——所有 token 同时算自己的 Q K V。这对 GPU 友好到什么程度？就好比你以前是一辆自行车，突然给你一架满载货物的运 8——你的 NVIDIA 8 卡集群终于不用在那干瞪眼等数据了。
代价呢？序列长度 N，计算量是 N 的平方。也就是说你处理 1 万 token 的文档，要算 1 亿次操作。这就是后面 FlashAttention、Mamba 这些工作想方设法绕开的事——我们下半场会回来讲。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前三章讲完了'大模型怎么算'。但你做产业判断的时候，关心的是另一个问题——这玩意儿要多少钱才能堆出来？参数堆多大才够？数据要喂多少？这就是第四章的事。
Attention 告诉了我们'怎么算'，但没回答'算多大'。2020 年 OpenAI 那篇 Scaling Law 论文，第一次给出了量化答案：模型性能和参数、数据、算力之间是一个**幂律**关系——可以画在 log-log 图上的一条直线。
这个发现的产业意义巨大——它把 AI 从'炼丹'变成了'盖楼'。以前你训一个模型，不知道烧 1 亿还是 10 亿能出效果；有了 Scaling Law，你可以预先算出来。这就是为啥 Sam Altman 敢去找微软要 100 亿——他**算得出来**这 100 亿能买到什么样的 GPT-4。
可以说，没有 Scaling Law，就没有 ChatGPT 时刻。它是这一波大模型浪潮的'产业宪法'。下一页看那条著名的幂律曲线，还有 DeepMind Chinchilla 论文怎么把 OpenAI 啪啪打脸的段子。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这张图你们一定要记住。横轴是训练用的算力，纵轴是模型的 loss——也就是模型有多笨。横跨 7 个数量级 的算力提升，loss 是一条几乎完美的直线下降。
打个比方：这张图告诉你，如果你花 1000 美元能让 loss 从 4 降到 3，那花 1 万亿美元——七个数量级——能让它降到 1.5。而且这个外推被反复验证是对的。
这就是过去六年所有云厂商砸钱建数据中心的数学依据。马斯克、扎克伯格、桑达尔、纳德拉这帮人不是疯了——他们是看着这张图算账：只要数据中心还在这条直线左边，每多花一块钱都能买到对应的智能提升。
有个段子。OpenAI 内部把这张图叫'信仰曲线'——因为整个公司就是建立在'相信这条直线还会继续'这个信仰上的。Sam Altman 2024 年还专门发了一条推特：'Scaling Law 没死，谁说死了请把数据中心账单还给微软'。
但是！下一页有个剧情反转。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Kaplan 的 Scaling Law 2022 年被 DeepMind 一篇论文重重打脸。这篇论文叫 Chinchilla——龙猫——名字起得萌，结论很硬。
原版 Kaplan 说：算力预算给定，模型越大越好，数据少点没事。Chinchilla 说：错。参数和数据要按 1:20 配比。
为了证明这个，DeepMind 训了一个 70B 参数、1.4 万亿 token 的小模型，叫 Chinchilla。当时业内大模型是 280B 参数、300B token 的 Gopher。结果 Chinchilla 在几乎所有 benchmark 上把 Gopher 干翻了。
这件事对国内的意义特别大。咱们高端卡被限制——硬件不够堆，那数据策略反而成了主战场。DeepSeek 能跑出来，本质上就是把 Chinchilla 这条路走得比谁都精。
有个段子。Chinchilla 发出来之后，硅谷某个大模型公司 CTO 在内部信里写了一句话：'We've been doing Kaplan-scaling. Turns out we should've been doing Chinchilla-scaling. Oops.'——'我们一直在按 Kaplan 配方做，结果应该按 Chinchilla 配方。哎呀。'这个 oops 后来在 AI 圈成了一个梗，专门用来形容'砸了几亿美元才发现走错路了'。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第四章告诉我们'大就是好'，但马上有个最关键的问题——大到什么程度，会发生质变？为啥 GPT-2 大家觉得是玩具，GPT-3 突然就让全世界震惊？这就是第五章的事。
Scaling Law 说性能跟规模成幂律——但那是平滑曲线。真实世界里发生的事更诡异：模型在某个临界点之前，做某件事完全不会；过了临界点，突然就会了。这叫**涌现**（Emergence）。还有一个孪生现象叫 Grokking——训练 loss 早就降下来了，模型却'装死'不会做题；继续训练一万步，突然某个时刻'开窍'了。
这两个现象是整个 ChatGPT 现象的真正引爆点。它解释了为啥 2022 年 11 月那一夜，全世界的 IT 人都失眠——不是 OpenAI 偷偷优化了什么，是模型大到了那个**质变点**。但同时，这也是当前 AI 泡沫和真才能的分界线——很多所谓'涌现能力'，其实只是评测指标的错觉。
下一页我画两条 Grokking 曲线，让大家直观看到'开窍'那一瞬间；再下一页对比真涌现 vs 假涌现，附赠物理 PhD 朋友的吐槽段子。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这张图你们看着像不像 K 线？我第一次看到的时候第一反应是：这模型这是被庄家洗盘了吗？
开个玩笑。这张图叫 Grokking——顿悟。OpenAI 2022 年发现的现象。
你训练一个小模型做模运算——就是小学三年级的'除法取余'。第 1000 步，训练 loss 已经降到 0——也就是说，模型已经把训练集背得滚瓜烂熟。
但是！在测试集上，它一直是错的，几乎是瞎猜的水平。
你接着训。多训 100 倍。还是错的。
多训 1000 倍。啪一下，断崖式下降，全做对了。模型'顿悟'了。
这个'顿悟'用机制可解释性的语言说：内部表征经历了一次相变——从死记硬背的'查表式'表征，重组成了真正理解模运算结构的'代数式'表征。
物理学家对'相变'这词无比眼熟——水到 100 度才沸腾，铁到居里点才失去磁性。Grokking 就是神经网络版的相变。
段子来了。我有个搞物理 PhD 的朋友看到 Grokking，说了一句：'你们搞 AI 的终于干了一件值得搞物理的人羡慕的事'——以前 AI 在他们眼里就是个调参玄学。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但这里有个学术争议你们要知道。
2022 年，OpenAI 和 Google 都说：大模型有'涌现能力'——参数过了某个阈值，突然学会做小学数学题、突然学会用工具。Sam Altman 在采访里把这称为'我们离 AGI 又近了一步'。
2023 年斯坦福一个叫 Schaeffer 的博士生发了一篇论文，叫《Are Emergent Abilities a Mirage?》——'所谓涌现能力，是不是海市蜃楼？'
他的论点很简单：很多所谓的涌现，其实是评测指标设计成 0/1 二值的产物。你算 100 道数学题，要求 100 道全对才算"会"，那当然是断崖式跨越。你换成"答对几道"作为指标，就是平滑提升，根本没有相变。
这篇论文得了 NeurIPS 2023 最佳论文奖——也就是说，AI 学界自己承认：'对，我们之前太兴奋了。'
我的判断是：Grokking 这种小规模、可控、可复现的相变是真的；但'大模型到了 GPT-4 突然会做奥数'这种叙事，绝大部分是 measurement artifact——测量造成的假象。
这对投资人的启示——不要为'下一代模型会突然涌现什么神奇能力'这种话付情绪溢价。很多时候，这就是个评测指标的 bug。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上半场到这里告一段落。
你可以把 LLM 想象成五条线索交汇的产物——高维空间给了容纳的舞台，Word2Vec 给了线性表征的几何，Attention 给了高效的关联计算，Scaling Law 给了'堆料就行'的工程信心，Grokking 给了相变涌现的可能。
这五条线索 2017 到 2022 这五年里几乎是同时成熟的，于是有了今天的 GPT-5、Claude、Gemini。
下半场咱们换个视角，从数学走到产业——第六章看算力的钱怎么花、卡怎么造、电怎么供；第七章看 Mamba、JEPA、世界模型这些下一代候选谁会接 Transformer 的班。
顺便催个咖啡——大家撑住，下半场更刺激。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讲到这里上半场结束了。喘口气——你会发现，刚才讲的这些核心思想——把语义变成坐标、用注意力做匹配、靠规模长出能力——并不复杂。AI 不神秘。
真正难的，是接下来的下半场——算力、电力、软件生态、迁移成本。这才是产业的硬约束，这才是 AI 贵在哪里。
上半场讲的是大模型为什么 work；下半场换一个角度：如果这套技术持续放大，它在物理世界里会被什么卡住？
我的答案是三个字：钱、卡、电。钱是资本开支，卡是算力硬件，电是能源和基础设施。
这一章只讲产业约束，不讲公司，不讲标的。三页内容：一页讲 NVIDIA 的生态护城河作为技术案例，一页讲 HBM 和电这两个真瓶颈，一页讲三个产业观察 + 三类环节认知框架。
这些只是个人学习公开资料后的整理，不代表公司或部门观点，也不构成任何投资建议。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NVIDIA 这一页我不讲股票，只讲一个技术生态案例。
从公开财报和开发者生态看，CUDA + NVLink + 先进封装三者叠加，构成了当前 AI 算力生态里的一个复合壁垒。CUDA 是 18 年的开发者习惯和工具链沉淀，NVLink 是机柜级别的整机互联能力，CoWoS 是 TSMC 先进封装的产能闸门。
这里面重要的是那个多年被反复验证的结论：**单芯片参数不是全部，真正难替代的是生态**。所以国产替代也不能只看芯片峰值性能，还要看软件栈、工具链、框架兼容和开发者迁移成本。
FY26Q1 数据：数据中心营收 391 亿、同比 +73%；总营收 441 亿；non-GAAP 毛利率（剔除 H20）约 71.3%。这些是 NVIDIA 官方口径，不是我的预测。
本页不涉及任何标的判断，也不作投资建议。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这一页只讲两件事：HBM 和电。
左边饼图：HBM 全球主要就三家，产能节奏明显制约了 AI 训练的供给节奏。
右边柱子是重点。三根柱子讲三年：2022 年 80 GWh、2024 年 220、2026 预计 560。560 GWh 大概是 5.6 亿度电，从量级上看，**已经接近一个中国普通县城或小型城市一年的用电水平**。这还只是**一个数据中心**。
再往大了看：IEA 《Electricity 2024》提到，**全球数据中心 + AI + 加密**相关的电力需求到 2026 年**可能超过 1000 TWh**，从量级上看接近整个日本一年的用电。这里不说死，只作量级对标，口径是 IEA 官方。
到这个阶段，AI 的瓶颈就不只是 GPU 了，而是**HBM、先进封装、电网接入、能源长协**这几类物理世界的硬约束。这也是为什么最近两年云厂商都在跟电力公司、核电公司签长期协议——这不再是一个软件游戏。
以上只是个人学习公开资料后的产业理解，不代表公司或部门观点，不构成任何投资建议。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这一页不作硬判断，只讲三句产业观察。
第一，软件生态是最难替代的壁垒。不是芯片不重要，是说芯片追平是入场券，生态迁移才是决胜局。
第二，HBM、先进封装、电力是物理世界的硬约束。这三个环节不是叙事、不是情绪，是人均 GDP 尺度的硬供给问题，决定算力的节奏与价格。
第三，国产替代的胜负手不只在芯片参数。更重要的是软件生态、工具链和开发者迁移成本。
以上三点只是个人学习产业资料后的认知整理，不作任何标的判断，也不代表公司或部门观点。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上一页的产业三个观察讲完，我再把产业链环节分三个抽屉。开口先讲清楚：这一页只讲产业链环节，不讲具体公司与标的；以下仅为一个 IT 人的认知框架，不代表所在机构观点，不构成任何投资建议。
第一类，长期护城河环节：软件生态、先进制程、先进封装、高带宽内存、高速互联。它们的共同点不是短期景气，而是生态、工艺和资本开支形成的复合壁垒。第六章讲了 CUDA 那一层为什么是真正的护城河——巴菲特讲的那种护城河，就是这个意思。
第二类，周期窗口环节：液冷、电力与变压设备、光模块、推理芯片国产替代、HBM 产能周期。这一类要盯周期拐点，不能把短期供需紧张当成永久护城河。
第三类，泡沫陷阱环节：无壁垒应用层、过度依赖 AGI 叙事、收入尚未兑现的高估值、纯「接 AI」概念股、capex 顶部未兑现玩家。这一类最危险的不是商业模式有问题，而是估值假设已经过于乐观。
这一页只讲产业环节，不讲标的，不构成任何投资建议。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讲到这儿，可能有同事开始焦虑——大模型这么强，是不是技术终点了？所有人都梭哈 Transformer 就完了？最后一章我必须给一个清醒的答案：远远没到。
第六章把当下产业看清了，第七章看下一段。三个最值得关注的苗头：第一，**Mamba** 把 Attention 的 O(N²) 复杂度砍到 O(N)——意味着长上下文不再烧钱；第二，**Yann LeCun 的 JEPA / V-JEPA2** 抛弃语言，让模型直接学物理世界——不再靠文字猜世界，而是看视频学因果；第三，**推理时缩放**——o3、o1 这一批模型把'训练时算'换成了'推理时算'，单次问答 20 美金，对应 10 张 H100 满负荷转一分钟。
这三个方向同时在动，意味着大模型时代的下半段不是 Transformer 一统江湖，而是**多范式融合**。这对投资判断特别关键——如果你今天 all in 在'更大 Transformer'这一条线上，可能就错过下一波。
讲完这一章我会给五条投资启示，然后用一页对比'算法的本质 vs 投资的本质'收尾——这也是我想跟南方基金各位同事真正想分享的认知。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候选一是 Mamba，2023 年 Tri Dao 和 Albert Gu 提出来的。
它的核心卖点很简单——把 Transformer 的 N² 复杂度拍成 N。你看这张图，序列长度一旦超过 1000，Mamba 的计算量就远低于 Attention。
在 DNA、音频、超长视频这些场景，Mamba 全面超越 Transformer。但是！在通用语言任务上还是略输。所以现在主流方案是混合架构——AI21 的 Jamba、微软的 Samba，把 Mamba 层和 Attention 层交错堆。
我个人判断：Mamba 不会取代 Transformer，但会和它共存。长上下文场景会被 Mamba 拿下。
段子。Tri Dao 这哥们儿是个传奇——一个普林斯顿博士，2022 年发了 FlashAttention，2023 年发了 Mamba，2024 年发了 Mamba-2。AI 圈给他起了个外号叫'三连击王'。每年他不发个改变行业的论文，业界都觉得不正常了。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候选二是 LeCun 一直押的方向——JEPA，联合嵌入预测架构。
它的反叛点在于：不预测像素，不预测 token，预测的是抽象表征。LeCun 一直说 LLM 是死胡同，AGI 必须走世界模型这条路。
今年（2025）两个里程碑：
Meta 的 V-JEPA 2：1.2B 参数，在 Epic-Kitchens-100 这个第一视角厨房数据集上，远超之前所有方法。可以理解为"机器人版的视频理解"。
Google 的 Genie 3：你给一句话，它生成一个 20-24 fps 的可交互 3D 世界——基本上就是一个'文生游戏'。
这两个方向有什么共同点？都不是为聊天准备的，是为机器人、物理仿真、Agent 准备的。也就是说，AI 的下一个战场不在网页对话框，而在物理世界。
段子。LeCun 在 Twitter 上跟 OpenAI 阵营常年互怼。Sam Altman 说'GPT-5 离 AGI 不远了'，LeCun 转发评论一个词：'Nope.'——简洁有力。两边粉丝在评论区打了三年。我觉得这是 AI 圈最好看的连续剧。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推理时缩放这件事，本质是把一部分算力成本从训练侧转移到了推理侧。
GPT-3 到 GPT-4 是“砸算力 = 砸参数”；到了 o1、o3 这一代，路线变成了“砸算力 = 砸思考时间”。模型在推理时会生成很长的中间思考过程，CoT 长度从三位数 token 拉到五位数 token 这个量级。
后果是：复杂推理任务会显著推高单次任务的推理成本。具体美元数字我不在现场报，因为官方价格是按 token 计的，要报必须同时报输入 / 输出、CoT 长度、任务复杂度，否则容易被追问。
产业含义是：推理侧的算力消耗会往上走，推理芯片、云推理服务、推理优化软件，这几个环节的重要性会被重新估量。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所以下一代架构会是啥？我的答案是：不是某一种赢，是融合。
Mamba 解决长序列效率问题，Attention 还在解决短上下文质量问题，JEPA 解决多模态和物理世界，推理时缩放解决复杂推理。这四个东西最终会拼成一个'混合架构'。
谁会先做出来？我不知道。但我知道一件事——这场战争中国还在牌桌上。DeepSeek、Qwen、Kimi 这些团队都在前沿。这不是 PC 时代，不是中国错过的那个时代。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最后这页，是我觉得这本书对不同岗位的意义。
对 IT 和技术同事：大模型不是魔法，是工程结果。高维表征、Attention、Scaling Law 是底层骨架，看懂了底层骨架，上面所有产品都只是变体。
对投研和业务同事：看 AI 不能只看叙事，要同时看算力、数据、电力、生态和变现这五个环节。哪一环出问题，代价都不一样。
对风控和合规同事：越热门的技术，越要区分事实、推断、假设。Schaeffer 那篇《Mirage》最重要的提醒就是：很多“涌现”可能只是评测指标选择造成的错觉，不一定是模型行为本身的质变。
对产品和运营同事：AI 会改变工作流，但 ROI 不会自动为正。场景颗粒度很重要，不是所有事都该上 AI。
对所有普通职场人：不写模型，也要理解模型。AI 不一定直接替代你，但会重塑岗位分工。
这五条不是投资启示，是给不同岗位的认知启示。
这页的收口句要讲慢：“公司内部做 AI 认知普及最重要的地方，不是让所有人都变成算法工程师，而是让每个岗位都能理解 AI 会怎样改变自己的工作边界。”
讲完上面这句之后，再补一句祛魅金句作为本页结尾：“AI 不是魔法，是应用数学。但能不能跑得起来、跑得快、跑得便宜，看的是工程、创新和软硬件怎么配合。”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算法和投资，底层数学其实是一回事。
左边讲 AI：把意思变成坐标、量变到质变、规模即性能、生态护城河、推理时多想几步、多架构并存；右边讲投资：把公司变成因子、风格切换、时间复利、巴菲特护城河、慢思考 vs 快决策、资产分散。——同一件事，两种语言。
我写《算法的低语》，不是为了追热点，也不是为了预测哪只股票涨跌。我只是越来越相信：算法也好，投资也好，真正重要的都是在不确定里寻找结构。这就是今天这场分享想留给大家的东西。谢谢。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参考文献两页，给大家一个完整目录。不用现场看，咱们手里的 PDF 末尾全有。这里只列每章我个人觉得最关键的几篇。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这是第二页参考文献。Schaeffer 那篇得了 NeurIPS Outstanding Paper，Mamba 和 V-JEPA 是最新的，Genie 3 是 2025 年 DeepMind 的新作。所有论文链接都在我 GitHub 的两本 PDF 末尾，扫码下载。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讲完融合，必须停下来讲一下 DeepSeek V4——2026 年 4 月 24 日刚发布，开源 MIT 协议，1.6T 总参数 49B 激活，3.1% 稀疏度，1M 上下文，33T tokens 预训练。
三大架构创新值得讲：
第一，mHC，流形约束的超连接，4 路信息流并行，6.7% 的开销换信息保真度——这是把残差连接做厚的一种思路。
第二，CSA + HCA，把注意力的 KV 压缩到极致——HCA 把 128 个 token 压成 1 个 entry，1M 上下文不再烧 KV cache，这是把推理时缩放的成本拍到地上。
第三，Muon Optimizer + FP4/FP8 混合精度——训练侧的成本进一步降低。
效率数据是这样：V4-Pro 在 1M 上下文跟 V3.2 比，FLOPs 27%，KV cache 10%。V4-Flash 更极致，FLOPs 10%，KV cache 7%。对比 GPT-5.4、Claude Opus 4.8，benchmark 接近——SWE &gt; 80%，HumanEval 约 90%——但价格便宜 10 到 50 倍。
这件事的意义不在于"国产又行了"。它的意义在于：架构创新这条路，在 Chinchilla 思路上还有大量边际。卡被卡住不是路的尽头，是路的另一条。第七章我讲的"押单一架构是错的"——DeepSeek V4 是最好的例子，它不是更大，是更巧。
各位如果对底层架构有兴趣，Sebastian Raschka 这篇做了非常细的拆解，我后面参考文献里会列出来。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今天讲的所有内容，完整版都在这两本 PDF 里。本体卷 67 页，讲故事讲产业判断；数学卷 73 页，讲公式讲推导。
两本都在我 GitHub 上开源——扫一下这个二维码，或者直接搜 augustfu-droid/algorithm-whispers。
公开，免费，欢迎转发，下载就 star 一个我会很开心。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主讲部分到这里，下面留给大家 Q&amp;A。
三条红线现场话术：
个股/买卖问题——这个问题我不能回答到标的和买卖层面；但如果把它抽象成产业链问题，我会拆五个环节：算力、存储、电力、生态、变现。这是框架讨论，不是标的讨论。
AGI 时间表问题——我不太愿意给 AGI 时间表；这个问题最容易把事实、推断、信仰混一起。事实看 benchmark 和真实任务，推断看能力迁移，信仰每个人自己拿。
AI 替代岗位问题——别问会不会被替代，问你的工作流里哪些环节是信息检索、文本生成、判断辅助、流程执行。AI 最先变的是任务结构，不一定是整个岗位消失。
DeepSeek V4 是彩蛋，被问到再贴附录。回答重点不是参数，是“在高端算力受限时，模型效率、数据配比、稀疏激活、长上下文压缩、后训练工程都会变成新的竞争变量”。所以国产路线的核心不是“更大”，是“更巧”。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hyperlink" Target="https://doi.org/10.1007/3-540-44503-X_27" TargetMode="External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hyperlink" Target="https://arxiv.org/abs/1301.378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hyperlink" Target="https://arxiv.org/abs/1706.0376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hyperlink" Target="https://arxiv.org/abs/2001.08361" TargetMode="External"/><Relationship Id="rId3" Type="http://schemas.openxmlformats.org/officeDocument/2006/relationships/hyperlink" Target="https://arxiv.org/abs/2203.15556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hyperlink" Target="https://arxiv.org/abs/2203.1555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hyperlink" Target="https://arxiv.org/abs/2201.0217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hyperlink" Target="https://investor.nvidia.co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5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hyperlink" Target="https://www.trendforce.com" TargetMode="External"/><Relationship Id="rId3" Type="http://schemas.openxmlformats.org/officeDocument/2006/relationships/hyperlink" Target="https://www.iea.org/reports/electricity-2024" TargetMode="External"/><Relationship Id="rId4" Type="http://schemas.openxmlformats.org/officeDocument/2006/relationships/hyperlink" Target="https://www.nea.gov.cn" TargetMode="External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hyperlink" Target="https://arxiv.org/abs/2312.0075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hyperlink" Target="https://deepmind.google" TargetMode="External"/><Relationship Id="rId3" Type="http://schemas.openxmlformats.org/officeDocument/2006/relationships/hyperlink" Target="https://ai.meta.com/research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hyperlink" Target="https://openai.com/index/learning-to-reason-with-llm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5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hyperlink" Target="https://magazine.sebastianraschka.com/p/recent-developments-in-llm-architectures" TargetMode="External"/><Relationship Id="rId3" Type="http://schemas.openxmlformats.org/officeDocument/2006/relationships/hyperlink" Target="https://deepseek.ai/deepseek-v4" TargetMode="External"/><Relationship Id="rId4" Type="http://schemas.openxmlformats.org/officeDocument/2006/relationships/hyperlink" Target="https://cloud.tencent.com/developer/article/2668877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9525">
            <a:solidFill>
              <a:srgbClr val="0A2540"/>
            </a:solidFill>
            <a:prstDash val="solid"/>
          </a:ln>
        </p:spPr>
      </p:sp>
      <p:pic>
        <p:nvPicPr>
          <p:cNvPr id="4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920240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算法的低语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0292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非技术同事也能听懂的 AI 底层框架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02920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付强 · 数智科技部 / 大队长出品
</a:t>
            </a:r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6 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37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为什么我会写这本书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02920" y="1298448"/>
            <a:ext cx="2606040" cy="2240280"/>
          </a:xfrm>
          <a:prstGeom prst="rect">
            <a:avLst/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02920" y="1298448"/>
            <a:ext cx="260604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1755648"/>
            <a:ext cx="22402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2022.11.30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685800" y="24871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 9:00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85800" y="2871216"/>
            <a:ext cx="2240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上线那一夜，IT 人集体失眠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29000" y="1298448"/>
            <a:ext cx="2606040" cy="2240280"/>
          </a:xfrm>
          <a:prstGeom prst="rect">
            <a:avLst/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967740000" dist="322580000" dir="324000000000">
              <a:srgbClr val="000000">
                <a:alpha val="12000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1298448"/>
            <a:ext cx="2606040" cy="457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2"/>
          <p:cNvSpPr/>
          <p:nvPr/>
        </p:nvSpPr>
        <p:spPr>
          <a:xfrm>
            <a:off x="3611880" y="1755648"/>
            <a:ext cx="22402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1095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3611880" y="24871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个夜晚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611880" y="2871216"/>
            <a:ext cx="2240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1188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2023–2025 三年业余研究时长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55080" y="1298448"/>
            <a:ext cx="2606040" cy="2240280"/>
          </a:xfrm>
          <a:prstGeom prst="rect">
            <a:avLst/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290298000000" dist="4096766000000" dir="19440000000000000">
              <a:srgbClr val="000000">
                <a:alpha val="12000000000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55080" y="1298448"/>
            <a:ext cx="2606040" cy="457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2" name="Text 18"/>
          <p:cNvSpPr/>
          <p:nvPr/>
        </p:nvSpPr>
        <p:spPr>
          <a:xfrm>
            <a:off x="6537960" y="1755648"/>
            <a:ext cx="2240280" cy="7772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</a:t>
            </a:r>
            <a:endParaRPr lang="en-US" sz="3400" dirty="0"/>
          </a:p>
        </p:txBody>
      </p:sp>
      <p:sp>
        <p:nvSpPr>
          <p:cNvPr id="23" name="Text 19"/>
          <p:cNvSpPr/>
          <p:nvPr/>
        </p:nvSpPr>
        <p:spPr>
          <a:xfrm>
            <a:off x="6537960" y="248716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· 71+285+446 页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537960" y="2871216"/>
            <a:ext cx="2240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7960" y="29626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主册 · 数学卷 · 习题伴读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02920" y="370332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为什么叫《算法的低语》，而不是《AI 狂飙》？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重要的东西不在发布会的宏大叙事里，而在「词怎么变成坐标」、「关联怎么算出来」、「规模和性能怎么挂钩」、「算力卡在哪儿」、「生态护城河多深」这些底层结构里。「低语」是技术的耳语，「狂飙」是市场的喧嚣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今天的路线图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37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0292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上半场 · 数学线索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 · 产业 + 未来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349240" y="384048"/>
            <a:ext cx="3337560" cy="329184"/>
          </a:xfrm>
          <a:prstGeom prst="roundRect">
            <a:avLst>
              <a:gd name="adj" fmla="val 13889"/>
            </a:avLst>
          </a:prstGeom>
          <a:solidFill>
            <a:srgbClr val="C9A961"/>
          </a:solidFill>
          <a:ln/>
        </p:spPr>
      </p:sp>
      <p:sp>
        <p:nvSpPr>
          <p:cNvPr id="11" name="Text 7"/>
          <p:cNvSpPr/>
          <p:nvPr/>
        </p:nvSpPr>
        <p:spPr>
          <a:xfrm>
            <a:off x="5349240" y="3840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读书会版 · 语言 → 规模 → 产业三个框架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532120" y="1280160"/>
            <a:ext cx="0" cy="2743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1691640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16916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高维几何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02920" y="2167128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7" name="Text 13"/>
          <p:cNvSpPr/>
          <p:nvPr/>
        </p:nvSpPr>
        <p:spPr>
          <a:xfrm>
            <a:off x="502920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05840" y="2167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Word2Vec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02920" y="2642616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" y="2642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005840" y="264261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02920" y="3118104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" y="3118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05840" y="311810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Scaling Law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02920" y="3593592"/>
            <a:ext cx="347472" cy="347472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6" name="Text 22"/>
          <p:cNvSpPr/>
          <p:nvPr/>
        </p:nvSpPr>
        <p:spPr>
          <a:xfrm>
            <a:off x="502920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05840" y="35935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Grokking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5760720" y="1691640"/>
            <a:ext cx="347472" cy="347472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9" name="Text 25"/>
          <p:cNvSpPr/>
          <p:nvPr/>
        </p:nvSpPr>
        <p:spPr>
          <a:xfrm>
            <a:off x="576072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263640" y="1691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算力产业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5760720" y="2167128"/>
            <a:ext cx="347472" cy="347472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32" name="Text 28"/>
          <p:cNvSpPr/>
          <p:nvPr/>
        </p:nvSpPr>
        <p:spPr>
          <a:xfrm>
            <a:off x="5760720" y="2167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263640" y="21671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下一代架构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5760720" y="2697480"/>
            <a:ext cx="2880360" cy="45720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/>
        </p:spPr>
      </p:sp>
      <p:sp>
        <p:nvSpPr>
          <p:cNvPr id="35" name="Text 31"/>
          <p:cNvSpPr/>
          <p:nvPr/>
        </p:nvSpPr>
        <p:spPr>
          <a:xfrm>
            <a:off x="5760720" y="2697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502920" y="4041648"/>
            <a:ext cx="81381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31520" y="4041648"/>
            <a:ext cx="1097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时长选项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1920240" y="4151376"/>
            <a:ext cx="0" cy="493776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057400" y="4151376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min</a:t>
            </a:r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精华版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2057400" y="4443984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 Word2Vec / Grokking 推导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4178808" y="4151376"/>
            <a:ext cx="0" cy="49377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233672" y="4114800"/>
            <a:ext cx="2103120" cy="566928"/>
          </a:xfrm>
          <a:prstGeom prst="roundRect">
            <a:avLst>
              <a:gd name="adj" fmla="val 6452"/>
            </a:avLst>
          </a:prstGeom>
          <a:solidFill>
            <a:srgbClr val="C8102E"/>
          </a:solidFill>
          <a:ln/>
        </p:spPr>
      </p:sp>
      <p:sp>
        <p:nvSpPr>
          <p:cNvPr id="43" name="Text 39"/>
          <p:cNvSpPr/>
          <p:nvPr/>
        </p:nvSpPr>
        <p:spPr>
          <a:xfrm>
            <a:off x="4325112" y="4151376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 min</a:t>
            </a:r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读书会版 · today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4325112" y="444398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三框架 + Q&amp;A（今天）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391656" y="4151376"/>
            <a:ext cx="0" cy="493776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483096" y="4151376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 min</a:t>
            </a:r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充分版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6483096" y="4443984"/>
            <a:ext cx="2075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 DeepSeek V4 拆解 + 加长 Q&amp;A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高维几何与距离的诅咒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把每个词放进一个有几千个抽屉的柜子，每个词占一个独立的抽屉。AI 看似在理解语言，其实只是在柜子里找抽屉。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精华 ·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听懂人话的源头：把意思变成位置，把关系变成距离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抽屉太多了反而找不到东西 —— 这叫「距离的诅咒」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但抽屉多也有好处：可以装下几乎无限多个互不打架的概念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在高维空间里，所有人都站在角落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Aggarwal et al., 2001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抽屉越多，里头那个球就缩得越小，所有东西都被挤到角落 —— 「远」和「近」失去意义。</a:t>
            </a:r>
            <a:endParaRPr lang="en-US" sz="1400" dirty="0"/>
          </a:p>
        </p:txBody>
      </p:sp>
      <p:pic>
        <p:nvPicPr>
          <p:cNvPr id="10" name="Image 1" descr="/home/user/workspace/curse_dim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2331720" cy="23317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" y="40050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个抽屉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02920" y="426110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球占盒子 78.5% · 东西均匀分布</a:t>
            </a:r>
            <a:endParaRPr lang="en-US" sz="950" dirty="0"/>
          </a:p>
        </p:txBody>
      </p:sp>
      <p:pic>
        <p:nvPicPr>
          <p:cNvPr id="13" name="Image 2" descr="/home/user/workspace/curse_dim_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00200"/>
            <a:ext cx="2331720" cy="23317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00400" y="40050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768 个抽屉 (BERT)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200400" y="426110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球小到看不见 · 东西全去角落</a:t>
            </a:r>
            <a:endParaRPr lang="en-US" sz="950" dirty="0"/>
          </a:p>
        </p:txBody>
      </p:sp>
      <p:pic>
        <p:nvPicPr>
          <p:cNvPr id="16" name="Image 3" descr="/home/user/workspace/curse_dim_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600200"/>
            <a:ext cx="2331720" cy="23317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97880" y="400507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4096 个抽屉 (LLaMA)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897880" y="426110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球比尘埃还小 · 全是角落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2286000" y="4498848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E8EEF5"/>
          </a:solidFill>
          <a:ln/>
        </p:spPr>
      </p:sp>
      <p:sp>
        <p:nvSpPr>
          <p:cNvPr id="20" name="Text 13"/>
          <p:cNvSpPr/>
          <p:nvPr/>
        </p:nvSpPr>
        <p:spPr>
          <a:xfrm>
            <a:off x="2286000" y="44988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最远/最近距离比：</a:t>
            </a:r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38×</a:t>
            </a:r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</a:t>
            </a:r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1.15×</a:t>
            </a:r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/  </a:t>
            </a:r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1.06×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LLM 还要去高维？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02920" y="123444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普通地图 (2 个抽屉)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4 条互不打架的路：东南西北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城市挤一起，区分不开 —— 这是「诅咒」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09160" y="123444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E8EEF5"/>
          </a:solidFill>
          <a:ln/>
        </p:spPr>
      </p:sp>
      <p:sp>
        <p:nvSpPr>
          <p:cNvPr id="13" name="Text 9"/>
          <p:cNvSpPr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用的柜子 (768 个抽屉)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有海量条互不打架的独立通道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「祝福」—— 每个意思能分到自己的抽屉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29260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意思 = 位置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3657600" y="3017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一个词的意思，就是它在这个大柜子里的坐标。皇室、性别、是不是水果——每个属性都占一个独立抽屉，AI 通过位置就能判断意思。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熟悉投资的同事：跟 Fama-French 因子模型同一个思路——每个因子是一个独立坐标轴，AI 的柜子里有几千个这种「因子」。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Word2Vec：词的意思可以做加减法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 年的关键实验：「国王 − 男人 + 女人 = 王后」。词被变成数字坐标之后，居然真的能像算术一样运算，结果还是对的。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第一次证明「意思」不是玄学，而是可以用坐标表示的具体东西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论文被引超 10 万次 —— AI 圈的「相对论」时刻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只让模型猜「上下文」，它就自学了所有语义结构 —— 这是 ChatGPT 能成立的源头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国王 − 男人 + 女人 = ？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Mikolov et al., 2013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188720" y="118872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956816" y="118872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24912" y="118872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93008" y="118872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61104" y="118872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0" y="1188720"/>
            <a:ext cx="0" cy="26517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88720" y="3840480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188720" y="3177540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188720" y="2514600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88720" y="1851660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88720" y="1188720"/>
            <a:ext cx="3840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88720" y="3840480"/>
            <a:ext cx="384048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1188720" y="3840480"/>
            <a:ext cx="0" cy="-265176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 flipV="1">
            <a:off x="1188720" y="1719072"/>
            <a:ext cx="2688336" cy="2121408"/>
          </a:xfrm>
          <a:prstGeom prst="line">
            <a:avLst/>
          </a:prstGeom>
          <a:noFill/>
          <a:ln w="25400">
            <a:solidFill>
              <a:srgbClr val="0A2540"/>
            </a:solidFill>
            <a:prstDash val="solid"/>
            <a:headEnd type="none"/>
            <a:tailEnd type="triangle"/>
          </a:ln>
        </p:spPr>
      </p:sp>
      <p:sp>
        <p:nvSpPr>
          <p:cNvPr id="23" name="Shape 19"/>
          <p:cNvSpPr/>
          <p:nvPr/>
        </p:nvSpPr>
        <p:spPr>
          <a:xfrm flipV="1">
            <a:off x="1188720" y="2912364"/>
            <a:ext cx="2112264" cy="928116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 flipV="1">
            <a:off x="1188720" y="2382012"/>
            <a:ext cx="1536192" cy="1458468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 flipV="1">
            <a:off x="1188720" y="1188720"/>
            <a:ext cx="2112264" cy="265176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4005072" y="1444752"/>
            <a:ext cx="128930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/>
          <p:nvPr/>
        </p:nvSpPr>
        <p:spPr>
          <a:xfrm>
            <a:off x="3986784" y="142646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king (0.7, 0.8)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29000" y="2930652"/>
            <a:ext cx="128930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3410712" y="291236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 (0.55, 0.35)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1234440" y="2263140"/>
            <a:ext cx="128930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7"/>
          <p:cNvSpPr/>
          <p:nvPr/>
        </p:nvSpPr>
        <p:spPr>
          <a:xfrm>
            <a:off x="1216152" y="22448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woman (0.4, 0.55)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1901952" y="914400"/>
            <a:ext cx="128930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9"/>
          <p:cNvSpPr/>
          <p:nvPr/>
        </p:nvSpPr>
        <p:spPr>
          <a:xfrm>
            <a:off x="1883664" y="896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queen (0.55, 1)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5486400" y="155448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6928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词义的加减法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5669280" y="21031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− man + woman
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queen
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 − France + Italy = Rome
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− walked + swam = swimming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这不是巧合，是几何。Mikolov 说：「这个发现让审稿人怀疑我们造假。」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一个数学小奇迹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37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现象：意思相近的词，会自己聚到一块儿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160020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E8EEF5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325880" y="2286000"/>
            <a:ext cx="384048" cy="384048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12" name="Text 8"/>
          <p:cNvSpPr/>
          <p:nvPr/>
        </p:nvSpPr>
        <p:spPr>
          <a:xfrm>
            <a:off x="1280160" y="2286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28800" y="2286000"/>
            <a:ext cx="384048" cy="384048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14" name="Text 10"/>
          <p:cNvSpPr/>
          <p:nvPr/>
        </p:nvSpPr>
        <p:spPr>
          <a:xfrm>
            <a:off x="1783080" y="2286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狗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331720" y="2286000"/>
            <a:ext cx="384048" cy="384048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16" name="Text 12"/>
          <p:cNvSpPr/>
          <p:nvPr/>
        </p:nvSpPr>
        <p:spPr>
          <a:xfrm>
            <a:off x="2286000" y="2286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自动挤进同一片区域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0" y="160020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E8EEF5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交通工具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160520" y="2286000"/>
            <a:ext cx="384048" cy="384048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1" name="Text 17"/>
          <p:cNvSpPr/>
          <p:nvPr/>
        </p:nvSpPr>
        <p:spPr>
          <a:xfrm>
            <a:off x="4114800" y="2286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汽车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663440" y="2286000"/>
            <a:ext cx="384048" cy="384048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3" name="Text 19"/>
          <p:cNvSpPr/>
          <p:nvPr/>
        </p:nvSpPr>
        <p:spPr>
          <a:xfrm>
            <a:off x="4617720" y="2286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166360" y="2286000"/>
            <a:ext cx="384048" cy="384048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5" name="Text 21"/>
          <p:cNvSpPr/>
          <p:nvPr/>
        </p:nvSpPr>
        <p:spPr>
          <a:xfrm>
            <a:off x="5120640" y="228600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火车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5760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自动挤进同一片区域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35040" y="1600200"/>
            <a:ext cx="2697480" cy="1737360"/>
          </a:xfrm>
          <a:prstGeom prst="roundRect">
            <a:avLst>
              <a:gd name="adj" fmla="val 3158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99632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为啥？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199632" y="202996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只让模型做一件简单的事——猜「谁会出现在我旁边」，它就自学了整个语言的语义结构。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（学术叫法：共现矩阵的低秩分解。）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02920" y="365760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/>
        </p:spPr>
      </p:sp>
      <p:sp>
        <p:nvSpPr>
          <p:cNvPr id="31" name="Text 27"/>
          <p:cNvSpPr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为什么这件事重要   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训练目标极简也能学到深层结构 —— 这是科技巨头敢砸几百亿建数据中心的底层信心：越多数据，结构越自动浮现。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注意力机制：让每个词学会看人下菜碟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年《Attention Is All You Need》——每个词都会主动看一眼整句话里的其他词，然后决定自己在当前这句里到底是什么意思。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精华 ·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Word2Vec 给每个词一个固定意思；Attention 让意思随场景变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的心脏 —— ChatGPT / Claude / Gemini 全靠它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代价是「句子越长、算力涨得越凶」（N² 复杂度）—— 后面 FlashAttention、Mamba 都在解这事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三件套：像一家猎头公司做匹配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Vaswani et al., 2017</a:t>
            </a:r>
            <a:endParaRPr lang="en-US" sz="800" dirty="0"/>
          </a:p>
        </p:txBody>
      </p:sp>
      <p:pic>
        <p:nvPicPr>
          <p:cNvPr id="8" name="Picture 7" descr="p11_headhun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Attention 把 RNN 干掉了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37</a:t>
            </a:r>
            <a:endParaRPr lang="en-US" sz="800" dirty="0"/>
          </a:p>
        </p:txBody>
      </p:sp>
      <p:pic>
        <p:nvPicPr>
          <p:cNvPr id="7" name="Picture 6" descr="p12_rnn_vs_at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尺度律：越大真的越聪明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 年 OpenAI 给出量化答案 —— 模型性能与参数 / 数据 / 算力呈幂律关系，可画在 log-log 图上的一条直线。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精华 ·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从「炼丹」变成「盖楼」—— 性能可预先算出来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 Altman 敢找微软要 100 亿，因为他算得出能买到什么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Scaling Law，就没有 ChatGPT 时刻 —— 本轮浪潮的「产业宪法」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训练算力每 10 倍，Loss 下降 5%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Kaplan et al., 2020</a:t>
            </a:r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Hoffmann et al., 2022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横跨 7 个数量级仍是一条直线 —— 这就是云厂商砸钱建数据中心的数学依据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37160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233749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095897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958046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20194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2343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44491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0664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371600" y="429768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371600" y="3803904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371600" y="3310128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371600" y="2816352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371600" y="2322576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371600" y="182880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371600" y="4297680"/>
            <a:ext cx="603504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71600" y="4297680"/>
            <a:ext cx="0" cy="-246888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492301" y="1952244"/>
            <a:ext cx="663854" cy="370332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156155" y="2322576"/>
            <a:ext cx="844906" cy="345643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001061" y="2668219"/>
            <a:ext cx="905256" cy="296266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906317" y="2964485"/>
            <a:ext cx="784555" cy="222199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690872" y="3186684"/>
            <a:ext cx="663854" cy="172822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354726" y="3359506"/>
            <a:ext cx="844906" cy="246888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199632" y="3606394"/>
            <a:ext cx="784555" cy="246888"/>
          </a:xfrm>
          <a:prstGeom prst="line">
            <a:avLst/>
          </a:prstGeom>
          <a:noFill/>
          <a:ln w="25400">
            <a:solidFill>
              <a:srgbClr val="1B4F8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437437" y="1897380"/>
            <a:ext cx="109728" cy="109728"/>
          </a:xfrm>
          <a:prstGeom prst="ellipse">
            <a:avLst/>
          </a:prstGeom>
          <a:solidFill>
            <a:srgbClr val="1B4F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101291" y="2267712"/>
            <a:ext cx="109728" cy="109728"/>
          </a:xfrm>
          <a:prstGeom prst="ellipse">
            <a:avLst/>
          </a:prstGeom>
          <a:solidFill>
            <a:srgbClr val="1B4F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946197" y="2613355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543861" y="228417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GPT-2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851453" y="2909621"/>
            <a:ext cx="109728" cy="109728"/>
          </a:xfrm>
          <a:prstGeom prst="ellipse">
            <a:avLst/>
          </a:prstGeom>
          <a:solidFill>
            <a:srgbClr val="1B4F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636008" y="3131820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233672" y="28026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GPT-3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299862" y="3304642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97526" y="297545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Chinchilla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144768" y="3551530"/>
            <a:ext cx="109728" cy="109728"/>
          </a:xfrm>
          <a:prstGeom prst="ellipse">
            <a:avLst/>
          </a:prstGeom>
          <a:solidFill>
            <a:srgbClr val="0A25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742432" y="322234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929323" y="3798418"/>
            <a:ext cx="109728" cy="109728"/>
          </a:xfrm>
          <a:prstGeom prst="ellipse">
            <a:avLst/>
          </a:prstGeom>
          <a:solidFill>
            <a:srgbClr val="1B4F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371600" y="43891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FLOPs (1e17 → 1e25)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 rot="16200000">
            <a:off x="45720" y="25146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Loss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7635240" y="1645920"/>
            <a:ext cx="1143000" cy="2286000"/>
          </a:xfrm>
          <a:prstGeom prst="roundRect">
            <a:avLst>
              <a:gd name="adj" fmla="val 4800"/>
            </a:avLst>
          </a:prstGeom>
          <a:solidFill>
            <a:srgbClr val="E8EEF5"/>
          </a:solidFill>
          <a:ln/>
        </p:spPr>
      </p:sp>
      <p:sp>
        <p:nvSpPr>
          <p:cNvPr id="48" name="Text 44"/>
          <p:cNvSpPr/>
          <p:nvPr/>
        </p:nvSpPr>
        <p:spPr>
          <a:xfrm>
            <a:off x="7635240" y="1828800"/>
            <a:ext cx="1143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
</a:t>
            </a:r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个数量级</a:t>
            </a:r>
            <a:endParaRPr lang="en-US" sz="3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横跨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Chinchilla 修正：不是越大越好，是配比要对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Hoffmann et al., 2022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40080" y="132588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/ Kaplan 配方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868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 </a:t>
            </a:r>
            <a:pPr algn="l" indent="0" marL="0">
              <a:buNone/>
            </a:pPr>
            <a:r>
              <a:rPr lang="en-US" sz="2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175B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 </a:t>
            </a:r>
            <a:pPr algn="l" indent="0" marL="0">
              <a:buNone/>
            </a:pPr>
            <a:r>
              <a:rPr lang="en-US" sz="2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300B tokens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68680" y="3200400"/>
            <a:ext cx="320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参数:数据 ratio   </a:t>
            </a:r>
            <a:pPr algn="l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1.7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20640" y="132588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E8EEF5"/>
          </a:solidFill>
          <a:ln/>
        </p:spPr>
      </p:sp>
      <p:sp>
        <p:nvSpPr>
          <p:cNvPr id="17" name="Text 13"/>
          <p:cNvSpPr/>
          <p:nvPr/>
        </p:nvSpPr>
        <p:spPr>
          <a:xfrm>
            <a:off x="534924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Chinchilla 配方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34924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34924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  </a:t>
            </a:r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70B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49240" y="2606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 </a:t>
            </a:r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1.4T tokens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349240" y="3200400"/>
            <a:ext cx="3200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49240" y="3291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参数:数据 ratio   </a:t>
            </a:r>
            <a:pPr algn="l" indent="0" marL="0">
              <a:buNone/>
            </a:pPr>
            <a:r>
              <a:rPr lang="en-US" sz="18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20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434840" y="2560320"/>
            <a:ext cx="640080" cy="0"/>
          </a:xfrm>
          <a:prstGeom prst="line">
            <a:avLst/>
          </a:prstGeom>
          <a:noFill/>
          <a:ln w="25400">
            <a:solidFill>
              <a:srgbClr val="0A2540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40080" y="406908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同样算力，数据要喂 20 倍才最优 —— Chinchilla 70B 反杀 Gopher 280B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顿悟：相变与涌现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模型在临界点之前完全不会，过了临界点突然就会了 —— 这叫涌现；孪生现象 Grokking 则是「装死后突然开窍」。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解释了为何 GPT-3 让全世界震惊 —— 模型大到了质变点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Grokking：训练 loss 早降，测试集多训 1000 倍才突然开窍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但「涌现」很多是评测指标错觉 —— 泡沫与真才能的分界线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Grokking 的诡异曲线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et al., 2022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 1000 倍的时间，从「背诵」突然变成「理解」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37160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37744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38328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8912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9496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06640" y="1828800"/>
            <a:ext cx="0" cy="246888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0" y="429768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371600" y="368046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371600" y="306324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371600" y="244602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371600" y="182880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371600" y="4297680"/>
            <a:ext cx="603504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371600" y="4297680"/>
            <a:ext cx="0" cy="-246888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flipV="1">
            <a:off x="1371600" y="2816352"/>
            <a:ext cx="482803" cy="1357884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 flipV="1">
            <a:off x="1854403" y="1952244"/>
            <a:ext cx="422453" cy="864108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V="1">
            <a:off x="2276856" y="1828800"/>
            <a:ext cx="422453" cy="123444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699309" y="1828800"/>
            <a:ext cx="1689811" cy="0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389120" y="1828800"/>
            <a:ext cx="3017520" cy="0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V="1">
            <a:off x="1371600" y="4174236"/>
            <a:ext cx="1207008" cy="24689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flipV="1">
            <a:off x="2578608" y="4149547"/>
            <a:ext cx="1810512" cy="24689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V="1">
            <a:off x="4389120" y="4124858"/>
            <a:ext cx="724205" cy="24689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V="1">
            <a:off x="5113325" y="2939796"/>
            <a:ext cx="482803" cy="1185062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 flipV="1">
            <a:off x="5596128" y="1902866"/>
            <a:ext cx="482803" cy="103693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6078931" y="1828800"/>
            <a:ext cx="1327709" cy="74066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596128" y="1874520"/>
            <a:ext cx="0" cy="242316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3310128" y="31866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Grokking 临界点 ~ 10⁵ 步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1371600" y="43891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训练步数 (log)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 rot="16200000">
            <a:off x="45720" y="26060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7680960" y="1828800"/>
            <a:ext cx="320040" cy="0"/>
          </a:xfrm>
          <a:prstGeom prst="line">
            <a:avLst/>
          </a:prstGeom>
          <a:noFill/>
          <a:ln w="38100">
            <a:solidFill>
              <a:srgbClr val="1B4F8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046720" y="1691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680960" y="2194560"/>
            <a:ext cx="32004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046720" y="2057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涌现是真的还是海市蜃楼？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02920" y="123444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· OpenAI 主张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1828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会算数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2194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会推理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会写诗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阶跃式：突然解锁新能力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09160" y="123444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E8EEF5"/>
          </a:solidFill>
          <a:ln/>
        </p:spPr>
      </p:sp>
      <p:sp>
        <p:nvSpPr>
          <p:cNvPr id="15" name="Text 11"/>
          <p:cNvSpPr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· Schaeffer 反对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很多「涌现」是 0/1 二值评测指标的产物。改用连续指标看 —— 平滑曲线，根本没有阶跃。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9204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连续指标看：平滑曲线，无阶跃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384048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/>
        </p:spPr>
      </p:sp>
      <p:sp>
        <p:nvSpPr>
          <p:cNvPr id="19" name="Text 15"/>
          <p:cNvSpPr/>
          <p:nvPr/>
        </p:nvSpPr>
        <p:spPr>
          <a:xfrm>
            <a:off x="502920" y="38404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Schaeffer 拿了 NeurIPS 2023 Outstanding Paper · 但 Grokking 这种小规模、可复现的相变是真的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上半场小结 · 下半场剧透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640080" y="12344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高维几何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377440" y="1463040"/>
            <a:ext cx="3657600" cy="512064"/>
          </a:xfrm>
          <a:prstGeom prst="line">
            <a:avLst/>
          </a:prstGeom>
          <a:noFill/>
          <a:ln w="38100">
            <a:solidFill>
              <a:srgbClr val="9DB8D6">
                <a:alpha val="6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181965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1819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Word2Vec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377440" y="2048256"/>
            <a:ext cx="3657600" cy="219456"/>
          </a:xfrm>
          <a:prstGeom prst="line">
            <a:avLst/>
          </a:prstGeom>
          <a:noFill/>
          <a:ln w="30480">
            <a:solidFill>
              <a:srgbClr val="9DB8D6">
                <a:alpha val="6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24048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404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 flipV="1">
            <a:off x="2377440" y="2560320"/>
            <a:ext cx="3657600" cy="73152"/>
          </a:xfrm>
          <a:prstGeom prst="line">
            <a:avLst/>
          </a:prstGeom>
          <a:noFill/>
          <a:ln w="45720">
            <a:solidFill>
              <a:srgbClr val="9DB8D6">
                <a:alpha val="6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99008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9900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Scaling Law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 flipV="1">
            <a:off x="2377440" y="2852928"/>
            <a:ext cx="3657600" cy="365760"/>
          </a:xfrm>
          <a:prstGeom prst="line">
            <a:avLst/>
          </a:prstGeom>
          <a:noFill/>
          <a:ln w="38100">
            <a:solidFill>
              <a:srgbClr val="9DB8D6">
                <a:alpha val="6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575304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E8EEF5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3575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Grokking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 flipV="1">
            <a:off x="2377440" y="3145536"/>
            <a:ext cx="3657600" cy="658368"/>
          </a:xfrm>
          <a:prstGeom prst="line">
            <a:avLst/>
          </a:prstGeom>
          <a:noFill/>
          <a:ln w="22860">
            <a:solidFill>
              <a:srgbClr val="9DB8D6">
                <a:alpha val="6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35040" y="1828800"/>
            <a:ext cx="1828800" cy="1463040"/>
          </a:xfrm>
          <a:prstGeom prst="roundRect">
            <a:avLst>
              <a:gd name="adj" fmla="val 375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56086784600000000" dist="52028928200000000" dir="1.1664e+21">
              <a:srgbClr val="000000">
                <a:alpha val="1200000000000000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035040" y="182880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640080" y="4251960"/>
            <a:ext cx="7863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下半场剧透   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· 算力产业      第 7 章 · 下一代架构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算力产业：钱、卡、电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从数学走到产业 —— NVIDIA 三层护城河、HBM 良率三国杀、电力即将成为真瓶颈。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精华 ·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护城河不是芯片，是 CUDA × NVLink × CoWoS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不是真瓶颈 —— HBM 与电力才是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三个产业观察：生态、稀缺、国产替代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37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的三层护城河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FY2026 Q1 10-Q</a:t>
            </a:r>
            <a:endParaRPr lang="en-US" sz="800" dirty="0"/>
          </a:p>
        </p:txBody>
      </p:sp>
      <p:pic>
        <p:nvPicPr>
          <p:cNvPr id="8" name="Picture 7" descr="p21_nvidia_mo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真正的瓶颈：HBM 和电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TrendForce HBM 2024</a:t>
            </a:r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IEA Electricity 2024</a:t>
            </a:r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国家能源局 2025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 供应份额（2024）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1463040"/>
          <a:ext cx="2743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3108960" y="1600200"/>
            <a:ext cx="182880" cy="1828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2" name="Text 7"/>
          <p:cNvSpPr/>
          <p:nvPr/>
        </p:nvSpPr>
        <p:spPr>
          <a:xfrm>
            <a:off x="3337560" y="1554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 Hynix  53%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108960" y="1965960"/>
            <a:ext cx="182880" cy="1828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4" name="Text 9"/>
          <p:cNvSpPr/>
          <p:nvPr/>
        </p:nvSpPr>
        <p:spPr>
          <a:xfrm>
            <a:off x="333756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Samsung  35%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108960" y="2331720"/>
            <a:ext cx="182880" cy="182880"/>
          </a:xfrm>
          <a:prstGeom prst="rect">
            <a:avLst/>
          </a:prstGeom>
          <a:solidFill>
            <a:srgbClr val="9DB8D6"/>
          </a:solidFill>
          <a:ln/>
        </p:spPr>
      </p:sp>
      <p:sp>
        <p:nvSpPr>
          <p:cNvPr id="16" name="Text 11"/>
          <p:cNvSpPr/>
          <p:nvPr/>
        </p:nvSpPr>
        <p:spPr>
          <a:xfrm>
            <a:off x="3337560" y="2286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Micron  12%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0" y="1280160"/>
            <a:ext cx="0" cy="2743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单数据中心年耗电（GWh）</a:t>
            </a:r>
            <a:endParaRPr lang="en-US" sz="13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4754880" y="150876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0" name="Text 14"/>
          <p:cNvSpPr/>
          <p:nvPr/>
        </p:nvSpPr>
        <p:spPr>
          <a:xfrm>
            <a:off x="6263640" y="15544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量级接近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一座中国县城年用电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4114800"/>
            <a:ext cx="8138160" cy="640080"/>
          </a:xfrm>
          <a:prstGeom prst="roundRect">
            <a:avLst>
              <a:gd name="adj" fmla="val 7143"/>
            </a:avLst>
          </a:prstGeom>
          <a:solidFill>
            <a:srgbClr val="E8EEF5"/>
          </a:solidFill>
          <a:ln/>
        </p:spPr>
      </p:sp>
      <p:sp>
        <p:nvSpPr>
          <p:cNvPr id="22" name="Text 16"/>
          <p:cNvSpPr/>
          <p:nvPr/>
        </p:nvSpPr>
        <p:spPr>
          <a:xfrm>
            <a:off x="502920" y="41148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不是瓶颈 —— HBM 良率与电网接入才是。
</a:t>
            </a:r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量级上看：单数据中心年耗电接近一座中国县城；2026 全球数据中心总耗电可能超 1000 TWh，接近日本全国年用电（IEA）。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三个产业观察：生态、稀缺与国产替代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37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02920" y="96926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读书会版 · IT 人从技术与产业链看到的三个观察，不是组合建议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" y="155448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15544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观察一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057400" y="1508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软件生态仍是最难替代的壁垒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057400" y="19019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短期内，以 CUDA 为代表的软件生态比芯片本身更难追。护城河在生态这一层，不在芯片参数。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441448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2624328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2624328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观察二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057400" y="25786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HBM、先进封装、电力是真供给约束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205740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这三者是物理世界的硬约束，不是叙事。它们决定了算力的节奏与价格。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2920" y="3511296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3694176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0A2540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" y="3694176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观察三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057400" y="364845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国产替代的胜负手不只在芯片参数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2057400" y="404164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更重要的是软件生态、工具链和开发者迁移成本。芯片追平是入场券，生态迁移是决胜局。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算力浪潮里的三类机会与陷阱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个人三年研究综合 · 公开财报与产业资料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13232" y="9509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读书会版 · 只讲产业链环节与认知框架，不讲具体公司与标的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1298448"/>
            <a:ext cx="2606040" cy="3154680"/>
          </a:xfrm>
          <a:prstGeom prst="rect">
            <a:avLst/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4.0605140544611325e+33" dist="1.3535046848203775e+33" dir="1.5116544e+40">
              <a:srgbClr val="000000">
                <a:alpha val="1.1999999999999999e+39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1298448"/>
            <a:ext cx="260604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144475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长期护城河环节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85800" y="177393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几何级数复利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85800" y="2048256"/>
            <a:ext cx="2240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21214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软件生态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85800" y="24140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先进制程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85800" y="27066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先进封装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85800" y="2999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高带宽内存 (HBM)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5800" y="3291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高速互联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85800" y="410565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 + 工艺双壁垒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429000" y="1298448"/>
            <a:ext cx="2606040" cy="3154680"/>
          </a:xfrm>
          <a:prstGeom prst="rect">
            <a:avLst/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.156852849165638e+37" dist="1.7189509497218795e+37" dir="9.069926400000001e+44">
              <a:srgbClr val="000000">
                <a:alpha val="1.1999999999999999e+44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429000" y="1298448"/>
            <a:ext cx="260604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19"/>
          <p:cNvSpPr/>
          <p:nvPr/>
        </p:nvSpPr>
        <p:spPr>
          <a:xfrm>
            <a:off x="3611880" y="144475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周期窗口环节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3611880" y="177393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周期性窗口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611880" y="2048256"/>
            <a:ext cx="2240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11880" y="21214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液冷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611880" y="24140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电力与变压设备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611880" y="27066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光模块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611880" y="2999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推理芯片国产替代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611880" y="3291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HBM 产能周期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611880" y="410565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跟随周期，注意拐点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355080" y="1298448"/>
            <a:ext cx="2606040" cy="3154680"/>
          </a:xfrm>
          <a:prstGeom prst="rect">
            <a:avLst/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.549203118440361e+41" dist="2.183067706146787e+41" dir="5.44195584e+49">
              <a:srgbClr val="000000">
                <a:alpha val="1.2e+49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355080" y="1298448"/>
            <a:ext cx="2606040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0"/>
          <p:cNvSpPr/>
          <p:nvPr/>
        </p:nvSpPr>
        <p:spPr>
          <a:xfrm>
            <a:off x="6537960" y="1444752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泡沫陷阱环节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6537960" y="177393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叙事、估值、变现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537960" y="2048256"/>
            <a:ext cx="22402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37960" y="21214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无壁垒应用层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537960" y="24140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过度依赖 AGI 叙事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537960" y="27066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收入未兑现的高估值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537960" y="2999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纯“接 AI”概念股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537960" y="32918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capex 顶部未兑现玩家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537960" y="410565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不只是贵，是假设太乐观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以上仅为个人技术与产业理解，不代表所在机构观点，不构成任何投资建议或研究覆盖结论。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"/>
            <a:ext cx="3657600" cy="5111496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spc="2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后变换器时代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大模型远未到终点 —— Mamba、JEPA / 世界模型、推理时缩放三个苗头同时在挑战「大就是好」。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07</a:t>
            </a:r>
            <a:endParaRPr lang="en-US" sz="1300" dirty="0"/>
          </a:p>
        </p:txBody>
      </p:sp>
      <p:pic>
        <p:nvPicPr>
          <p:cNvPr id="8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420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精华 · 标准 · 充分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6908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本章要点  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1783080"/>
            <a:ext cx="44805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9080" y="2057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20574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 把 O(N²) 砍到 O(N) —— 长上下文不再烧钱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69080" y="28346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34840" y="2834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JEPA / V-JEPA2：抛弃语言，直接学物理世界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69080" y="3611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434840" y="3611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推理时缩放：算力从训练侧转移到推理侧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/ 37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1 · Mamba：复杂度对比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 &amp; Dao, 2023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Mamba（选择性状态空间模型）把 Attention 的 O(N²) 砍到 O(N) —— 长序列不再烧钱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4630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3774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206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0" y="1783080"/>
            <a:ext cx="0" cy="251460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463040" y="429768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463040" y="37947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463040" y="32918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463040" y="278892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463040" y="228600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463040" y="178308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463040" y="4297680"/>
            <a:ext cx="5486400" cy="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463040" y="4297680"/>
            <a:ext cx="0" cy="-2514600"/>
          </a:xfrm>
          <a:prstGeom prst="line">
            <a:avLst/>
          </a:prstGeom>
          <a:noFill/>
          <a:ln w="15875">
            <a:solidFill>
              <a:srgbClr val="4A556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 flipV="1">
            <a:off x="1463040" y="4291394"/>
            <a:ext cx="274320" cy="6286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 flipV="1">
            <a:off x="1737360" y="4272534"/>
            <a:ext cx="274320" cy="18859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 flipV="1">
            <a:off x="2011680" y="4241102"/>
            <a:ext cx="274320" cy="31432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 flipV="1">
            <a:off x="2286000" y="4197096"/>
            <a:ext cx="274320" cy="44006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 flipV="1">
            <a:off x="2560320" y="4140518"/>
            <a:ext cx="274320" cy="56578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 flipV="1">
            <a:off x="2834640" y="4071366"/>
            <a:ext cx="274320" cy="69151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V="1">
            <a:off x="3108960" y="3989642"/>
            <a:ext cx="274320" cy="81725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V="1">
            <a:off x="3383280" y="3895344"/>
            <a:ext cx="274320" cy="94298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 flipV="1">
            <a:off x="3657600" y="3788474"/>
            <a:ext cx="274320" cy="10687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 flipV="1">
            <a:off x="3931920" y="3669030"/>
            <a:ext cx="274320" cy="119444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 flipV="1">
            <a:off x="4206240" y="3537014"/>
            <a:ext cx="274320" cy="132017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 flipV="1">
            <a:off x="4480560" y="3392424"/>
            <a:ext cx="274320" cy="14459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 flipV="1">
            <a:off x="4754880" y="3235262"/>
            <a:ext cx="274320" cy="157163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 flipV="1">
            <a:off x="5029200" y="3065526"/>
            <a:ext cx="274320" cy="169735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 flipV="1">
            <a:off x="5303520" y="2883218"/>
            <a:ext cx="274320" cy="182308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 flipV="1">
            <a:off x="5577840" y="2688336"/>
            <a:ext cx="274320" cy="194882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 flipV="1">
            <a:off x="5852160" y="2480882"/>
            <a:ext cx="274320" cy="207454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 flipV="1">
            <a:off x="6126480" y="2260854"/>
            <a:ext cx="274320" cy="220028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 flipV="1">
            <a:off x="6400800" y="2028254"/>
            <a:ext cx="274320" cy="232601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 flipV="1">
            <a:off x="6675120" y="1783080"/>
            <a:ext cx="274320" cy="245173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 flipV="1">
            <a:off x="1463040" y="3241548"/>
            <a:ext cx="5486400" cy="1056132"/>
          </a:xfrm>
          <a:prstGeom prst="line">
            <a:avLst/>
          </a:prstGeom>
          <a:noFill/>
          <a:ln w="31750">
            <a:solidFill>
              <a:srgbClr val="1B4F8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81728" y="163449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Transformer  O(N²)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530352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  O(N)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4206240" y="1783080"/>
            <a:ext cx="0" cy="2514600"/>
          </a:xfrm>
          <a:prstGeom prst="line">
            <a:avLst/>
          </a:prstGeom>
          <a:noFill/>
          <a:ln w="12700">
            <a:solidFill>
              <a:srgbClr val="A0AEC0"/>
            </a:solidFill>
            <a:prstDash val="dash"/>
          </a:ln>
        </p:spPr>
      </p:sp>
      <p:sp>
        <p:nvSpPr>
          <p:cNvPr id="49" name="Text 45"/>
          <p:cNvSpPr/>
          <p:nvPr/>
        </p:nvSpPr>
        <p:spPr>
          <a:xfrm>
            <a:off x="32004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100K 长度时差 ~1000 倍</a:t>
            </a:r>
            <a:endParaRPr lang="en-US" sz="950" dirty="0"/>
          </a:p>
        </p:txBody>
      </p:sp>
      <p:sp>
        <p:nvSpPr>
          <p:cNvPr id="50" name="Text 46"/>
          <p:cNvSpPr/>
          <p:nvPr/>
        </p:nvSpPr>
        <p:spPr>
          <a:xfrm>
            <a:off x="146304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上下文长度 (1K → 1M)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 rot="16200000">
            <a:off x="91440" y="25831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计算开销 (log)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7223760" y="1600200"/>
            <a:ext cx="1554480" cy="2194560"/>
          </a:xfrm>
          <a:prstGeom prst="roundRect">
            <a:avLst>
              <a:gd name="adj" fmla="val 3529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7360920" y="17373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长序列强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（DNA / 音频）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通用语言略输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主流是混合架构</a:t>
            </a:r>
            <a:endParaRPr lang="en-US" sz="1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Jamba / Samba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2 · 世界模型与 JEPA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DeepMind Genie 3</a:t>
            </a:r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 V-JEPA 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LeCun 的反 LLM 路线：不预测像素、不预测 token，预测抽象表征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155448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E8EEF5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DeepMind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3152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Genie 3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949440" y="17190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   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20–24 fps 可交互 3D 世界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5760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突破点  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输入一句话 → 输出可玩游戏（文生游戏）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" y="33192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FAIR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" y="35935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V-JEPA 2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949440" y="33192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5760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   </a:t>
            </a:r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1B 级视觉编码器 · Epic-Kitchens-100 Recall@5 = 39.7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657600" y="3977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突破点   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第一视角厨房场景理解 —— 机器人版视频理解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3 · Agent 与推理时缩放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o1 / o3</a:t>
            </a:r>
            <a:endParaRPr lang="en-US" sz="800" dirty="0"/>
          </a:p>
        </p:txBody>
      </p:sp>
      <p:pic>
        <p:nvPicPr>
          <p:cNvPr id="8" name="Picture 7" descr="p28_train_vs_inf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下一代是融合，不是替代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 flipV="1">
            <a:off x="1936213" y="1645920"/>
            <a:ext cx="989867" cy="1714500"/>
          </a:xfrm>
          <a:prstGeom prst="line">
            <a:avLst/>
          </a:prstGeom>
          <a:noFill/>
          <a:ln w="19050">
            <a:solidFill>
              <a:srgbClr val="1B4F8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926080" y="1645920"/>
            <a:ext cx="989867" cy="1714500"/>
          </a:xfrm>
          <a:prstGeom prst="line">
            <a:avLst/>
          </a:prstGeom>
          <a:noFill/>
          <a:ln w="19050">
            <a:solidFill>
              <a:srgbClr val="1B4F8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936213" y="3360420"/>
            <a:ext cx="1979734" cy="0"/>
          </a:xfrm>
          <a:prstGeom prst="line">
            <a:avLst/>
          </a:prstGeom>
          <a:noFill/>
          <a:ln w="19050">
            <a:solidFill>
              <a:srgbClr val="1B4F8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816352" y="1536192"/>
            <a:ext cx="219456" cy="219456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2" name="Text 8"/>
          <p:cNvSpPr/>
          <p:nvPr/>
        </p:nvSpPr>
        <p:spPr>
          <a:xfrm>
            <a:off x="2377440" y="11430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Mamba
</a:t>
            </a:r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826485" y="3250692"/>
            <a:ext cx="219456" cy="219456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4" name="Text 10"/>
          <p:cNvSpPr/>
          <p:nvPr/>
        </p:nvSpPr>
        <p:spPr>
          <a:xfrm>
            <a:off x="793213" y="34061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JEPA
</a:t>
            </a:r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806219" y="3250692"/>
            <a:ext cx="219456" cy="219456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6" name="Text 12"/>
          <p:cNvSpPr/>
          <p:nvPr/>
        </p:nvSpPr>
        <p:spPr>
          <a:xfrm>
            <a:off x="3413027" y="35250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推理时缩放
</a:t>
            </a:r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52928" y="271576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4"/>
          <p:cNvSpPr/>
          <p:nvPr/>
        </p:nvSpPr>
        <p:spPr>
          <a:xfrm>
            <a:off x="210312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下一代架构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989320" y="137160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7220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仍在牌桌上的玩家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OpenAI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263640" y="23500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Anthropic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263640" y="27340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Google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263640" y="31181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Meta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263640" y="3502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DeepSeek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没有一种架构会赢，是几种范式的融合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给不同部门的五条启示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37</a:t>
            </a:r>
            <a:endParaRPr lang="en-US" sz="800" dirty="0"/>
          </a:p>
        </p:txBody>
      </p:sp>
      <p:pic>
        <p:nvPicPr>
          <p:cNvPr id="7" name="Picture 6" descr="p30_five_ro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051560"/>
            <a:ext cx="8412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算法的低语 vs 投资的本质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1280160" y="1143000"/>
            <a:ext cx="324612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9" name="Text 5"/>
          <p:cNvSpPr/>
          <p:nvPr/>
        </p:nvSpPr>
        <p:spPr>
          <a:xfrm>
            <a:off x="1280160" y="1143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算法世界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26280" y="1143000"/>
            <a:ext cx="3246120" cy="45720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1" name="Text 7"/>
          <p:cNvSpPr/>
          <p:nvPr/>
        </p:nvSpPr>
        <p:spPr>
          <a:xfrm>
            <a:off x="4526280" y="1143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投资世界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26280" y="1143000"/>
            <a:ext cx="0" cy="2807208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80160" y="1645920"/>
            <a:ext cx="324612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80160" y="16459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把意思变成坐标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26280" y="1645920"/>
            <a:ext cx="3246120" cy="384048"/>
          </a:xfrm>
          <a:prstGeom prst="rect">
            <a:avLst/>
          </a:prstGeom>
          <a:solidFill>
            <a:srgbClr val="E8EE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26280" y="16459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把公司变成因子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280160" y="2029968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80160" y="2029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量变到质变的跳变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26280" y="2029968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26280" y="2029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市场风格切换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1280160" y="2414016"/>
            <a:ext cx="324612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280160" y="241401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规模即性能（Scaling Law）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526280" y="2414016"/>
            <a:ext cx="3246120" cy="384048"/>
          </a:xfrm>
          <a:prstGeom prst="rect">
            <a:avLst/>
          </a:prstGeom>
          <a:solidFill>
            <a:srgbClr val="E8EE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26280" y="241401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时间即财富（复利）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280160" y="2798064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80160" y="279806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CUDA 生态壁垒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26280" y="2798064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26280" y="279806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巴菲特护城河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280160" y="3182112"/>
            <a:ext cx="3246120" cy="384048"/>
          </a:xfrm>
          <a:prstGeom prst="rect">
            <a:avLst/>
          </a:prstGeom>
          <a:solidFill>
            <a:srgbClr val="F7F7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80160" y="3182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推理时多想几步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26280" y="3182112"/>
            <a:ext cx="3246120" cy="384048"/>
          </a:xfrm>
          <a:prstGeom prst="rect">
            <a:avLst/>
          </a:prstGeom>
          <a:solidFill>
            <a:srgbClr val="E8EE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26280" y="3182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慢思考 vs 快决策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1280160" y="3566160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280160" y="35661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多架构并存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4526280" y="3566160"/>
            <a:ext cx="3246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26280" y="35661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资产分散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02920" y="3977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无论是算法，还是投资，底层都在寻找同一件事——
</a:t>
            </a:r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在不确定的世界里，找到可重复的结构。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以上仅为个人技术与产业理解，不代表所在机构观点，不构成任何投资建议或研究覆盖结论。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完整参考文献（一）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/ 37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0292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 · 高维几何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153619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Beyer, K. et al. (1999). When is Nearest Neighbor Meaningful? ICDT.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Nickel, M. &amp; Kiela, D. (2017). Poincaré Embeddings. NeurIPS.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Park, K. et al. (2024). Linear Representation Hypothesis. ICML.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6344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 · Word2Vec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153619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Mikolov, T. et al. (2013). Efficient Estimation of Word Representations.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Mikolov, T. et al. (2013). Distributed Representations. NeurIPS.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Pennington, J. et al. (2014). GloVe. EMNLP.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2920" y="29260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 · Attention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327355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Vaswani, A. et al. (2017). Attention Is All You Need. NeurIPS.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Dao, T. et al. (2022). FlashAttention. NeurIPS.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Su, J. et al. (2021). RoFormer (RoPE).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Ramsauer, H. et al. (2020). Hopfield Networks Is All You Need. ICLR.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63440" y="29260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 · Scaling Law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663440" y="3273552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Kaplan, J. et al. (2020). Scaling Laws for Neural LMs.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Hoffmann, J. et al. (2022). Chinchilla.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Sardana, N. et al. (2023). Beyond Chinchilla-Optimal. arXiv.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完整参考文献（二）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/ 37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0292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 · Grokking &amp; 涌现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1536192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Power, A. et al. (2022). Grokking.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Nanda, N. et al. (2023). Progress Measures for Grokking. ICLR.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Schaeffer, R. et al. (2023). Are Emergent Abilities a Mirage? NeurIPS Outstanding Paper.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Elhage, N. et al. (2022). Toy Models of Superposition. Anthropic.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Templeton, A. et al. (2024). Scaling Monosemanticity. Anthropic.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63440" y="11887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 · 算力产业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1536192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FY2026 Q1 Earnings Report.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Williams, S. et al. (2009). Roofline Performance Model. CACM.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Patterson, D. et al. (2021). Carbon Emissions of NN Training.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IEA (2024). Electricity 2024 Forecast.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0292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 · 后变换器时代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35844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Gu, A. &amp; Dao, T. (2023). Mamba. arXiv.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Dao, T. &amp; Gu, A. (2024). Transformers are SSMs (Mamba-2). ICML.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LeCun, Y. (2022). A Path Towards Autonomous Machine Intelligence (JEPA). OpenReview.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63440" y="35844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Bardes, A. et al. (2024). V-JEPA. Meta AI.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Hafner, D. et al. (2023). DreamerV3. Nature.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DeepMind (2025). Genie 3. Blog.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80+ 条文献请见 GitHub 仓库的两本 PDF（github.com/augustfu-droid/algorithm-whispers）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 · 开源架构创新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/ 37 附录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Sebastian Raschka</a:t>
            </a:r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DeepSeek.ai</a:t>
            </a:r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pPr algn="l" indent="0" marL="0">
              <a:buNone/>
            </a:pPr>
            <a:r>
              <a:rPr lang="en-US" sz="800" u="sng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Tencent Cloud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486400" y="384048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0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附录页 · 时间够或 Q&amp;A 时再展开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13232" y="9509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2026.04.24 发布 · MIT 协议 · 1.6T 总参数 · 49B 激活（3.1% 稀疏度）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02920" y="13716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三大架构创新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1755648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" y="1847088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7512" y="2121408"/>
            <a:ext cx="3648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Manifold-Constrained Hyper-Connections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6.7% overhead · n=4 streams · 信息流多通路保留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688336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" y="2779776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CSA + HCA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7512" y="3054096"/>
            <a:ext cx="3648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HCA 把 128 tokens 压成 1 entry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 上下文不再烧 KV cache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920" y="3621024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3712464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Muon Optimizer + FP4/FP8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7512" y="3986784"/>
            <a:ext cx="36484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混合精度 · 训练侧降本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33T tokens 预训练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效率边际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663440" y="1755648"/>
            <a:ext cx="3977640" cy="777240"/>
          </a:xfrm>
          <a:prstGeom prst="roundRect">
            <a:avLst>
              <a:gd name="adj" fmla="val 5882"/>
            </a:avLst>
          </a:prstGeom>
          <a:solidFill>
            <a:srgbClr val="E8EEF5"/>
          </a:solidFill>
          <a:ln/>
        </p:spPr>
      </p:sp>
      <p:sp>
        <p:nvSpPr>
          <p:cNvPr id="24" name="Text 20"/>
          <p:cNvSpPr/>
          <p:nvPr/>
        </p:nvSpPr>
        <p:spPr>
          <a:xfrm>
            <a:off x="4828032" y="1810512"/>
            <a:ext cx="3648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V4-Pro vs V3.2 (1M)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28032" y="2103120"/>
            <a:ext cx="3648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FLOPs </a:t>
            </a:r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27%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KV Cache </a:t>
            </a:r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63440" y="2624328"/>
            <a:ext cx="3977640" cy="777240"/>
          </a:xfrm>
          <a:prstGeom prst="roundRect">
            <a:avLst>
              <a:gd name="adj" fmla="val 5882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28032" y="2679192"/>
            <a:ext cx="3648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V4-Flash 极限压缩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828032" y="2971800"/>
            <a:ext cx="3648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FLOPs </a:t>
            </a:r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KV Cache </a:t>
            </a:r>
            <a:pPr algn="l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663440" y="3493008"/>
            <a:ext cx="3977640" cy="9144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28032" y="3547872"/>
            <a:ext cx="3648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GPT-5.4 / Claude Opus 4.8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828032" y="3840480"/>
            <a:ext cx="3648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~10-50× 更便宜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SWE&gt;80% · HumanEval~90%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02920" y="45262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时间紧的兜底说法：国产路线的核心不是「更大」，而是「更巧」——DeepSeek V4 是 Chinchilla 思路和架构效率优化的一个强例子。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1089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9260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配套阅读：三本笔记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32688"/>
            <a:ext cx="8412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/ 37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457200" y="13258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E8EEF5"/>
          </a:solidFill>
          <a:ln/>
          <a:effectLst>
            <a:outerShdw sx="100000" sy="100000" kx="0" ky="0" algn="bl" rotWithShape="0" blurRad="8.317487960419258e+45" dist="2.7724959868064195e+45" dir="3.2651735040000005e+54">
              <a:srgbClr val="000000">
                <a:alpha val="1.2e+54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4008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算法的低语 · 本体卷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00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71 页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40080" y="2880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主册 · 讲故事 · 讲产业判断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3258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.0563209709732457e+50" dist="3.5210699032441527e+49" dir="1.9591041024000004e+59">
              <a:srgbClr val="000000">
                <a:alpha val="1.2e+59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2900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算法的低语 · 数学卷 v1.7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2900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285 页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429000" y="2880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 节 · 426 条公式编号 · 全推导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84048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github.com/augustfu-droid/algorithm-whispers</a:t>
            </a:r>
            <a:pPr algn="ctr" indent="0" marL="0">
              <a:buNone/>
            </a:pPr>
            <a:r>
              <a:rPr lang="en-US" sz="11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开源 · Public Repo · 欢迎转发 · 不要忘记 star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35040" y="13258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7F7F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.0563209709732457e+50" dist="3.5210699032441527e+49" dir="1.9591041024000004e+59">
              <a:srgbClr val="000000">
                <a:alpha val="1.2e+59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21792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数学卷 · 习题伴读 v1.2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21792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446 页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6217920" y="2880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细颗粒度 · 例题 · 详细解答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pic>
        <p:nvPicPr>
          <p:cNvPr id="3" name="Image 0" descr="/home/user/workspace/nfjj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"/>
            <a:ext cx="1691640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858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请尽情拷问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主讲部分到这里，下面留给大家 Q&amp;A · 大队长出品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/ 37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9525">
            <a:solidFill>
              <a:srgbClr val="0A2540"/>
            </a:solidFill>
            <a:prstDash val="solid"/>
          </a:ln>
        </p:spPr>
      </p:sp>
      <p:pic>
        <p:nvPicPr>
          <p:cNvPr id="4" name="Image 0" descr="/home/user/workspace/nfjj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920240" cy="2468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让算法的低语，被更多人听见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本文是长期积累的结果 · 不构成任何投资建议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55280" y="486460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 / 37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南方基金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大队长出品</dc:creator>
  <cp:lastModifiedBy>大队长出品</cp:lastModifiedBy>
  <cp:revision>1</cp:revision>
  <dcterms:created xsi:type="dcterms:W3CDTF">2026-06-10T12:02:33Z</dcterms:created>
  <dcterms:modified xsi:type="dcterms:W3CDTF">2026-06-10T12:02:33Z</dcterms:modified>
</cp:coreProperties>
</file>